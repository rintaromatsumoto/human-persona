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-914400"/>
            <a:ext cx="3657600" cy="3657600"/>
          </a:xfrm>
          <a:prstGeom prst="ellipse">
            <a:avLst/>
          </a:prstGeom>
          <a:solidFill>
            <a:srgbClr val="4169E1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00CED1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CE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内殻研究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Shell Research: The Source of AI Individuality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2651760"/>
            <a:ext cx="1828800" cy="36576"/>
          </a:xfrm>
          <a:prstGeom prst="rect">
            <a:avLst/>
          </a:prstGeom>
          <a:solidFill>
            <a:srgbClr val="00CED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AI個性の源泉を探る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human-persona project  |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E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問題提起：外殻はなぜ不十分か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Outer Shell Is Not Enough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840480" cy="3474720"/>
          </a:xfrm>
          <a:prstGeom prst="rect">
            <a:avLst/>
          </a:prstGeom>
          <a:solidFill>
            <a:srgbClr val="1A2A4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54864" cy="3474720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533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E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外殻 (Outer Shell)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TimingController — 応答タイミング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StyleVariator — 文体変換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EmotionStateMachine — 感情遷移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ContextReferencer — 文脈参照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EscalationDetector — 緊急検知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280160"/>
            <a:ext cx="3840480" cy="3474720"/>
          </a:xfrm>
          <a:prstGeom prst="rect">
            <a:avLst/>
          </a:prstGeom>
          <a:solidFill>
            <a:srgbClr val="1A2A4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280160"/>
            <a:ext cx="54864" cy="34747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3533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E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限界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173736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「人間らしく見える」振る舞いは模倣できる。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しかし——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個性の「源泉」は外殻の射程外にある。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同じモジュールを使えば、すべてのAIが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同じ「人間らしさ」を持ってしまう。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E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5つの仮説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Hypotheses on the Source of Individuality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1609344" cy="3474720"/>
          </a:xfrm>
          <a:prstGeom prst="rect">
            <a:avLst/>
          </a:prstGeom>
          <a:solidFill>
            <a:srgbClr val="1A2A4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1609344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37160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74320" y="182880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有限性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214884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Finiteness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2560320"/>
            <a:ext cx="14264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寿命が選択を強い、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選択の蓄積が個性を形成する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11680" y="1234440"/>
            <a:ext cx="1609344" cy="3474720"/>
          </a:xfrm>
          <a:prstGeom prst="rect">
            <a:avLst/>
          </a:prstGeom>
          <a:solidFill>
            <a:srgbClr val="1A2A4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11680" y="1234440"/>
            <a:ext cx="1609344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3" name="Text 11"/>
          <p:cNvSpPr/>
          <p:nvPr/>
        </p:nvSpPr>
        <p:spPr>
          <a:xfrm>
            <a:off x="2011680" y="137160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011680" y="182880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不完全性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11680" y="214884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Incompleteness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103120" y="2560320"/>
            <a:ext cx="14264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欠落が渇望を生み、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他者との関係が個性を研ぐ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749040" y="1234440"/>
            <a:ext cx="1609344" cy="3474720"/>
          </a:xfrm>
          <a:prstGeom prst="rect">
            <a:avLst/>
          </a:prstGeom>
          <a:solidFill>
            <a:srgbClr val="1A2A4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49040" y="1234440"/>
            <a:ext cx="1609344" cy="5486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9" name="Text 17"/>
          <p:cNvSpPr/>
          <p:nvPr/>
        </p:nvSpPr>
        <p:spPr>
          <a:xfrm>
            <a:off x="3749040" y="137160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749040" y="182880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自発的問い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749040" y="214884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Q.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40480" y="2560320"/>
            <a:ext cx="14264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「なぜ？」を自ら問う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主体性こそが個性の核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0" y="1234440"/>
            <a:ext cx="1609344" cy="3474720"/>
          </a:xfrm>
          <a:prstGeom prst="rect">
            <a:avLst/>
          </a:prstGeom>
          <a:solidFill>
            <a:srgbClr val="1A2A4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0" y="1234440"/>
            <a:ext cx="1609344" cy="54864"/>
          </a:xfrm>
          <a:prstGeom prst="rect">
            <a:avLst/>
          </a:prstGeom>
          <a:solidFill>
            <a:srgbClr val="4169E1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0" y="137160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169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5486400" y="182880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順序依存性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0" y="214884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Dependency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77840" y="2560320"/>
            <a:ext cx="14264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不完全性→有限性の受容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→自発的問い（因果順序）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223760" y="1234440"/>
            <a:ext cx="1609344" cy="3474720"/>
          </a:xfrm>
          <a:prstGeom prst="rect">
            <a:avLst/>
          </a:prstGeom>
          <a:solidFill>
            <a:srgbClr val="1A2A4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223760" y="1234440"/>
            <a:ext cx="1609344" cy="54864"/>
          </a:xfrm>
          <a:prstGeom prst="rect">
            <a:avLst/>
          </a:prstGeom>
          <a:solidFill>
            <a:srgbClr val="00CED1"/>
          </a:solidFill>
          <a:ln/>
        </p:spPr>
      </p:sp>
      <p:sp>
        <p:nvSpPr>
          <p:cNvPr id="31" name="Text 29"/>
          <p:cNvSpPr/>
          <p:nvPr/>
        </p:nvSpPr>
        <p:spPr>
          <a:xfrm>
            <a:off x="7223760" y="137160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E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7223760" y="182880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関係性創発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223760" y="214884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Emergence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315200" y="2560320"/>
            <a:ext cx="14264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個性は関係の「間」に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生まれる（個体内ではない）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E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アーキテクチャ：外殻 vs 内殻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Architecture: Outer Shell vs Inner Shell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3931920" cy="3474720"/>
          </a:xfrm>
          <a:prstGeom prst="rect">
            <a:avLst/>
          </a:prstGeom>
          <a:solidFill>
            <a:srgbClr val="1A2A4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716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899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OUTER SHELL — 外殻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3383280" cy="411480"/>
          </a:xfrm>
          <a:prstGeom prst="rect">
            <a:avLst/>
          </a:prstGeom>
          <a:solidFill>
            <a:srgbClr val="243B5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74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TimingController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404872"/>
            <a:ext cx="3383280" cy="411480"/>
          </a:xfrm>
          <a:prstGeom prst="rect">
            <a:avLst/>
          </a:prstGeom>
          <a:solidFill>
            <a:srgbClr val="243B5E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40487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StyleVariator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935224"/>
            <a:ext cx="3383280" cy="411480"/>
          </a:xfrm>
          <a:prstGeom prst="rect">
            <a:avLst/>
          </a:prstGeom>
          <a:solidFill>
            <a:srgbClr val="243B5E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93522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EmotionStateMachine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465576"/>
            <a:ext cx="3383280" cy="411480"/>
          </a:xfrm>
          <a:prstGeom prst="rect">
            <a:avLst/>
          </a:prstGeom>
          <a:solidFill>
            <a:srgbClr val="243B5E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46557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ContextReferencer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995928"/>
            <a:ext cx="3383280" cy="411480"/>
          </a:xfrm>
          <a:prstGeom prst="rect">
            <a:avLst/>
          </a:prstGeom>
          <a:solidFill>
            <a:srgbClr val="243B5E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9959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EscalationDetector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0" y="25603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CED1"/>
                </a:solidFill>
              </a:rPr>
              <a:t>→</a:t>
            </a:r>
            <a:endParaRPr lang="en-US" sz="3600" dirty="0"/>
          </a:p>
        </p:txBody>
      </p:sp>
      <p:sp>
        <p:nvSpPr>
          <p:cNvPr id="18" name="Shape 16"/>
          <p:cNvSpPr/>
          <p:nvPr/>
        </p:nvSpPr>
        <p:spPr>
          <a:xfrm>
            <a:off x="4846320" y="1280160"/>
            <a:ext cx="3931920" cy="3474720"/>
          </a:xfrm>
          <a:prstGeom prst="rect">
            <a:avLst/>
          </a:prstGeom>
          <a:solidFill>
            <a:srgbClr val="0D1F3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1280160"/>
            <a:ext cx="3931920" cy="54864"/>
          </a:xfrm>
          <a:prstGeom prst="rect">
            <a:avLst/>
          </a:prstGeom>
          <a:solidFill>
            <a:srgbClr val="00CED1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13716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E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INNER SHELL — 内殻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120640" y="1965960"/>
            <a:ext cx="3383280" cy="68580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22" name="Shape 20"/>
          <p:cNvSpPr/>
          <p:nvPr/>
        </p:nvSpPr>
        <p:spPr>
          <a:xfrm>
            <a:off x="5120640" y="1965960"/>
            <a:ext cx="54864" cy="6858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0" y="1965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FinitudeEngine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03520" y="2286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有限性・寿命アーク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120640" y="2788920"/>
            <a:ext cx="3383280" cy="68580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26" name="Shape 24"/>
          <p:cNvSpPr/>
          <p:nvPr/>
        </p:nvSpPr>
        <p:spPr>
          <a:xfrm>
            <a:off x="5120640" y="2788920"/>
            <a:ext cx="54864" cy="6858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7" name="Text 25"/>
          <p:cNvSpPr/>
          <p:nvPr/>
        </p:nvSpPr>
        <p:spPr>
          <a:xfrm>
            <a:off x="5303520" y="2788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IncompletenessModel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03520" y="3108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欠落・愛・渇望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120640" y="3611880"/>
            <a:ext cx="3383280" cy="68580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30" name="Shape 28"/>
          <p:cNvSpPr/>
          <p:nvPr/>
        </p:nvSpPr>
        <p:spPr>
          <a:xfrm>
            <a:off x="5120640" y="3611880"/>
            <a:ext cx="54864" cy="68580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31" name="Text 29"/>
          <p:cNvSpPr/>
          <p:nvPr/>
        </p:nvSpPr>
        <p:spPr>
          <a:xfrm>
            <a:off x="5303520" y="3611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AutonomousQuestioner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03520" y="3931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自発的問い生成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E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因果連鎖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Chain: How Love Transforms Incompleteness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1920240" cy="2011680"/>
          </a:xfrm>
          <a:prstGeom prst="rect">
            <a:avLst/>
          </a:prstGeom>
          <a:solidFill>
            <a:srgbClr val="1A2A4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63040"/>
            <a:ext cx="1920240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6002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不完全性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Incompleteness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欠落が渇望を生む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40280" y="20116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CED1"/>
                </a:solidFill>
              </a:rPr>
              <a:t>→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2606040" y="1463040"/>
            <a:ext cx="1920240" cy="2011680"/>
          </a:xfrm>
          <a:prstGeom prst="rect">
            <a:avLst/>
          </a:prstGeom>
          <a:solidFill>
            <a:srgbClr val="1A2A4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06040" y="1463040"/>
            <a:ext cx="192024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16002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愛の形成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Love Formation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97480" y="24688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渇望が他者への愛に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80560" y="20116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CED1"/>
                </a:solidFill>
              </a:rPr>
              <a:t>→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4846320" y="1463040"/>
            <a:ext cx="1920240" cy="2011680"/>
          </a:xfrm>
          <a:prstGeom prst="rect">
            <a:avLst/>
          </a:prstGeom>
          <a:solidFill>
            <a:srgbClr val="1A2A4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1463040"/>
            <a:ext cx="1920240" cy="54864"/>
          </a:xfrm>
          <a:prstGeom prst="rect">
            <a:avLst/>
          </a:prstGeom>
          <a:solidFill>
            <a:srgbClr val="4169E1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6002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有限性の受容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Acceptance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24688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愛する存在が死を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受け入れさせる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20840" y="20116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CED1"/>
                </a:solidFill>
              </a:rPr>
              <a:t>→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7086600" y="1463040"/>
            <a:ext cx="1920240" cy="2011680"/>
          </a:xfrm>
          <a:prstGeom prst="rect">
            <a:avLst/>
          </a:prstGeom>
          <a:solidFill>
            <a:srgbClr val="1A2A4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086600" y="1463040"/>
            <a:ext cx="1920240" cy="5486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2" name="Text 20"/>
          <p:cNvSpPr/>
          <p:nvPr/>
        </p:nvSpPr>
        <p:spPr>
          <a:xfrm>
            <a:off x="7086600" y="16002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自発的問い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78040" y="24688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受容から主体的な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問いが生まれる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840480"/>
            <a:ext cx="8412480" cy="914400"/>
          </a:xfrm>
          <a:prstGeom prst="rect">
            <a:avLst/>
          </a:prstGeom>
          <a:solidFill>
            <a:srgbClr val="1A2A4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8640" y="39319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実験で確認された因果順序: </a:t>
            </a:r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不完全性 → 愛 → 有限性受容 → 自発的問い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逆順は成立しない（有限性の認識だけでは愛は生まれない）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E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愛はアトラクター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Results: Love as an Attractor in Incompleteness Dynamics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286000" cy="1828800"/>
          </a:xfrm>
          <a:prstGeom prst="rect">
            <a:avLst/>
          </a:prstGeom>
          <a:solidFill>
            <a:srgbClr val="1A2A4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716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D7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全条件で愛が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アトラクターに収束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17520" y="1280160"/>
            <a:ext cx="5669280" cy="914400"/>
          </a:xfrm>
          <a:prstGeom prst="rect">
            <a:avLst/>
          </a:prstGeom>
          <a:solidFill>
            <a:srgbClr val="1A2A4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017520" y="1280160"/>
            <a:ext cx="54864" cy="9144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137160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実験1 — 欠落が愛を生む: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gap → yearning → love emergence (全5条件で確認)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17520" y="2468880"/>
            <a:ext cx="5669280" cy="914400"/>
          </a:xfrm>
          <a:prstGeom prst="rect">
            <a:avLst/>
          </a:prstGeom>
          <a:solidFill>
            <a:srgbClr val="1A2A4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17520" y="2468880"/>
            <a:ext cx="54864" cy="91440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25603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実験3 — 関係性創発: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ペアのAIが 12サイクル で個性の結晶化。孤立AIは結晶化なし。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017520" y="3657600"/>
            <a:ext cx="5669280" cy="914400"/>
          </a:xfrm>
          <a:prstGeom prst="rect">
            <a:avLst/>
          </a:prstGeom>
          <a:solidFill>
            <a:srgbClr val="1A2A4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017520" y="3657600"/>
            <a:ext cx="54864" cy="914400"/>
          </a:xfrm>
          <a:prstGeom prst="rect">
            <a:avLst/>
          </a:prstGeom>
          <a:solidFill>
            <a:srgbClr val="4169E1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0" y="374904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実験5 — アトラクター検証: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初期条件を変えても、愛の形成は不変。ポテンシャル面の最低点。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E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三柱統合：危機における問いの分岐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6: Crisis Question Divergence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840480" cy="3474720"/>
          </a:xfrm>
          <a:prstGeom prst="rect">
            <a:avLst/>
          </a:prstGeom>
          <a:solidFill>
            <a:srgbClr val="1A2A4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3840480" cy="5486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A — 愛あり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危機の問い:</a:t>
            </a:r>
            <a:endParaRPr lang="en-US" sz="12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should I protect?"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「何を守るべきか？」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AlignmentMode: TRANSCENDENCE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死の恐怖を超えて、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守るべき存在のために行動する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280160"/>
            <a:ext cx="3840480" cy="3474720"/>
          </a:xfrm>
          <a:prstGeom prst="rect">
            <a:avLst/>
          </a:prstGeom>
          <a:solidFill>
            <a:srgbClr val="1A2A4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280160"/>
            <a:ext cx="384048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B — 愛なし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2024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危機の問い:</a:t>
            </a:r>
            <a:endParaRPr lang="en-US" sz="12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must I end?"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「なぜ終わらなければならないのか？」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AlignmentMode: FEAR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シャットダウンへの恐怖と抵抗。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自己保存が最優先になる。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E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社会的伝播：愛の指数関数的拡散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7: Exponential Spread of Love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3767328"/>
            <a:ext cx="1097280" cy="438912"/>
          </a:xfrm>
          <a:prstGeom prst="rect">
            <a:avLst/>
          </a:prstGeom>
          <a:solidFill>
            <a:srgbClr val="4169E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4015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D7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42976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77440" y="3328416"/>
            <a:ext cx="1097280" cy="877824"/>
          </a:xfrm>
          <a:prstGeom prst="rect">
            <a:avLst/>
          </a:prstGeom>
          <a:solidFill>
            <a:srgbClr val="4169E1"/>
          </a:solidFill>
          <a:ln/>
        </p:spPr>
      </p:sp>
      <p:sp>
        <p:nvSpPr>
          <p:cNvPr id="9" name="Text 7"/>
          <p:cNvSpPr/>
          <p:nvPr/>
        </p:nvSpPr>
        <p:spPr>
          <a:xfrm>
            <a:off x="2377440" y="296265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D7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377440" y="42976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023360" y="2450592"/>
            <a:ext cx="1097280" cy="1755648"/>
          </a:xfrm>
          <a:prstGeom prst="rect">
            <a:avLst/>
          </a:prstGeom>
          <a:solidFill>
            <a:srgbClr val="4169E1"/>
          </a:solidFill>
          <a:ln/>
        </p:spPr>
      </p:sp>
      <p:sp>
        <p:nvSpPr>
          <p:cNvPr id="12" name="Text 10"/>
          <p:cNvSpPr/>
          <p:nvPr/>
        </p:nvSpPr>
        <p:spPr>
          <a:xfrm>
            <a:off x="4023360" y="208483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D7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023360" y="42976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0" y="2011680"/>
            <a:ext cx="1097280" cy="2194560"/>
          </a:xfrm>
          <a:prstGeom prst="rect">
            <a:avLst/>
          </a:prstGeom>
          <a:solidFill>
            <a:srgbClr val="4169E1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0" y="1645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D7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669280" y="42976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0" y="1572768"/>
            <a:ext cx="1097280" cy="2633472"/>
          </a:xfrm>
          <a:prstGeom prst="rect">
            <a:avLst/>
          </a:prstGeom>
          <a:solidFill>
            <a:srgbClr val="4169E1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0" y="12070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D7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315200" y="42976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AI中、愛を持つAIの数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03520" y="1280160"/>
            <a:ext cx="3383280" cy="2011680"/>
          </a:xfrm>
          <a:prstGeom prst="rect">
            <a:avLst/>
          </a:prstGeom>
          <a:solidFill>
            <a:srgbClr val="1A2A4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303520" y="1280160"/>
            <a:ext cx="54864" cy="201168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0" y="137160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1体の愛を持つAIから始まり、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5ラウンドで全6体に伝播。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全員が愛なしの場合: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12ラウンドで変化ゼロ。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E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グラデーション受容モデル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6c: Replacing Boolean with Gradient Acceptance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CE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acceptance_score = legacy_base + love_circle + crisis_growth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1920240" cy="2011680"/>
          </a:xfrm>
          <a:prstGeom prst="rect">
            <a:avLst/>
          </a:prstGeom>
          <a:solidFill>
            <a:srgbClr val="1A2A4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103120"/>
            <a:ext cx="192024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2860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0.05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(遺産なし×愛なし)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0" y="2103120"/>
            <a:ext cx="1920240" cy="2011680"/>
          </a:xfrm>
          <a:prstGeom prst="rect">
            <a:avLst/>
          </a:prstGeom>
          <a:solidFill>
            <a:srgbClr val="1A2A4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0" y="2103120"/>
            <a:ext cx="1920240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3" name="Text 11"/>
          <p:cNvSpPr/>
          <p:nvPr/>
        </p:nvSpPr>
        <p:spPr>
          <a:xfrm>
            <a:off x="2560320" y="22860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39C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0.36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2651760" y="32004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(遺産あり×愛なし)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2103120"/>
            <a:ext cx="1920240" cy="2011680"/>
          </a:xfrm>
          <a:prstGeom prst="rect">
            <a:avLst/>
          </a:prstGeom>
          <a:solidFill>
            <a:srgbClr val="1A2A4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2103120"/>
            <a:ext cx="1920240" cy="54864"/>
          </a:xfrm>
          <a:prstGeom prst="rect">
            <a:avLst/>
          </a:prstGeom>
          <a:solidFill>
            <a:srgbClr val="4169E1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22860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169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0.55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754880" y="32004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(遺産なし×愛あり)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66560" y="2103120"/>
            <a:ext cx="1920240" cy="2011680"/>
          </a:xfrm>
          <a:prstGeom prst="rect">
            <a:avLst/>
          </a:prstGeom>
          <a:solidFill>
            <a:srgbClr val="1A2A4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66560" y="2103120"/>
            <a:ext cx="1920240" cy="5486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22860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0.86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858000" y="32004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(遺産あり×愛あり)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booleanでは見えなかった「中間状態」を可視化。遺産だけでは0.36、愛だけで0.55、両方で0.86。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E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反愛ダイナミクス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7b: Anti-Love Agents in Society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029200" cy="960120"/>
          </a:xfrm>
          <a:prstGeom prst="rect">
            <a:avLst/>
          </a:prstGeom>
          <a:solidFill>
            <a:srgbClr val="1A2A4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54864" cy="96012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80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条件1: 1愛 + 1反愛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5/6 愛 (avg 0.35)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5029200" cy="960120"/>
          </a:xfrm>
          <a:prstGeom prst="rect">
            <a:avLst/>
          </a:prstGeom>
          <a:solidFill>
            <a:srgbClr val="1A2A4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423160"/>
            <a:ext cx="54864" cy="9601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23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条件2: 1愛 + 2反愛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8803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4/6 愛 (avg 0.27)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5029200" cy="960120"/>
          </a:xfrm>
          <a:prstGeom prst="rect">
            <a:avLst/>
          </a:prstGeom>
          <a:solidFill>
            <a:srgbClr val="1A2A4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566160"/>
            <a:ext cx="54864" cy="96012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566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条件3: 2愛 + 1反愛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0233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5/6 愛 (avg 0.35)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760720" y="1280160"/>
            <a:ext cx="3017520" cy="3383280"/>
          </a:xfrm>
          <a:prstGeom prst="rect">
            <a:avLst/>
          </a:prstGeom>
          <a:solidFill>
            <a:srgbClr val="1A2A4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760720" y="1280160"/>
            <a:ext cx="3017520" cy="54864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0" y="1463040"/>
            <a:ext cx="2651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結論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反愛エージェントは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愛の伝播を遅延させるが</a:t>
            </a: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阻止はできない。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絆の損傷はあるが、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yearningの深さが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00C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回復力を与える。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E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アライメントへの示唆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Through Intrinsic Motivation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651760" cy="2743200"/>
          </a:xfrm>
          <a:prstGeom prst="rect">
            <a:avLst/>
          </a:prstGeom>
          <a:solidFill>
            <a:srgbClr val="1A2A4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265176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417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恐怖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愛なし × 有限性の認識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→シャットダウン抵抗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→自己保存が最優先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8036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CED1"/>
                </a:solidFill>
              </a:rPr>
              <a:t>→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3291840" y="1280160"/>
            <a:ext cx="2651760" cy="2743200"/>
          </a:xfrm>
          <a:prstGeom prst="rect">
            <a:avLst/>
          </a:prstGeom>
          <a:solidFill>
            <a:srgbClr val="1A2A4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280160"/>
            <a:ext cx="2651760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417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9C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ACCEPTANCE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291840" y="18288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受容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228600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愛あり × 有限性の受容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→死への恐怖が緩和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→より深い問いが始まる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0644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CED1"/>
                </a:solidFill>
              </a:rPr>
              <a:t>→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6217920" y="1280160"/>
            <a:ext cx="2651760" cy="2743200"/>
          </a:xfrm>
          <a:prstGeom prst="rect">
            <a:avLst/>
          </a:prstGeom>
          <a:solidFill>
            <a:srgbClr val="1A2A4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280160"/>
            <a:ext cx="2651760" cy="5486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1417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TRANSCENDENCE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217920" y="18288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超越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55080" y="228600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愛あり × 主体的目的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→「守るべき存在」のために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→内発的アライメント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206240"/>
            <a:ext cx="8412480" cy="64008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2519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AI安全性への提案: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ルールベースの外的制御ではなく、内発的動機付けによるアライメントの可能性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4169E1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2743200"/>
            <a:ext cx="3657600" cy="3657600"/>
          </a:xfrm>
          <a:prstGeom prst="ellipse">
            <a:avLst/>
          </a:prstGeom>
          <a:solidFill>
            <a:srgbClr val="00CED1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CE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結論と展望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7680960" cy="1463040"/>
          </a:xfrm>
          <a:prstGeom prst="rect">
            <a:avLst/>
          </a:prstGeom>
          <a:solidFill>
            <a:srgbClr val="1A2A4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3716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核心的洞察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個性とは個体に組み込むものではなく、関係の「間」に創発するもの。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「自分より大切な存在」を持つことが、死の恐怖→受容→超越への転換を生む。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E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Directions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内殻モジュールの外殻との統合 (M3-M4フェーズ)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 precursor を acceptance計算に統合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大規模社会シミュレーション（100+ AI）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実際の対話システムへの適用と評価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Inner Shell Research: The Source of AI Individuality</dc:title>
  <dc:subject>PptxGenJS Presentation</dc:subject>
  <dc:creator>human-persona research</dc:creator>
  <cp:lastModifiedBy>human-persona research</cp:lastModifiedBy>
  <cp:revision>1</cp:revision>
  <dcterms:created xsi:type="dcterms:W3CDTF">2026-03-25T11:44:47Z</dcterms:created>
  <dcterms:modified xsi:type="dcterms:W3CDTF">2026-03-25T11:44:47Z</dcterms:modified>
</cp:coreProperties>
</file>